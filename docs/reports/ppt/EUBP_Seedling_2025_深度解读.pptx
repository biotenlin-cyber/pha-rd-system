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2926080" y="2377440"/>
            <a:ext cx="2286000" cy="2286000"/>
          </a:xfrm>
          <a:prstGeom prst="ellips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3291840" y="2743200"/>
            <a:ext cx="1554480" cy="1554480"/>
          </a:xfrm>
          <a:prstGeom prst="ellipse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F3EC"/>
                </a:solidFill>
                <a:latin typeface="WenQuanYi Zen Hei"/>
                <a:ea typeface="WenQuanYi Zen Hei"/>
              </a:rPr>
              <a:t>EUBP · Seedling Certification Scheme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F3EC"/>
                </a:solidFill>
                <a:latin typeface="WenQuanYi Zen Hei"/>
                <a:ea typeface="WenQuanYi Zen Hei"/>
              </a:rPr>
              <a:t>Revision 2025 (October)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F2937"/>
                </a:solidFill>
                <a:latin typeface="WenQuanYi Zen Hei"/>
                <a:ea typeface="WenQuanYi Zen Hei"/>
              </a:rPr>
              <a:t>工业可堆肥认证方案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6B4C"/>
                </a:solidFill>
                <a:latin typeface="WenQuanYi Zen Hei"/>
                <a:ea typeface="WenQuanYi Zen Hei"/>
              </a:rPr>
              <a:t>2025年10月版深度解读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11880"/>
            <a:ext cx="914400" cy="54864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0" y="3794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F6D"/>
                </a:solidFill>
                <a:latin typeface="WenQuanYi Zen Hei"/>
                <a:ea typeface="WenQuanYi Zen Hei"/>
              </a:rPr>
              <a:t>原文真实性核实 · 阈值体系深解 · 行业影响 · 应对路线图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029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WenQuanYi Zen Hei"/>
                <a:ea typeface="WenQuanYi Zen Hei"/>
              </a:rPr>
              <a:t>PHA 材料研发与产品开发团队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440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F6D"/>
                </a:solidFill>
                <a:latin typeface="WenQuanYi Zen Hei"/>
                <a:ea typeface="WenQuanYi Zen Hei"/>
              </a:rPr>
              <a:t>2026-05-05  |  内部决策参考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目录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本报告将回答的 6 个核心问题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685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77240" cy="6858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777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0195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WenQuanYi Zen Hei"/>
                <a:ea typeface="WenQuanYi Zen Hei"/>
              </a:rPr>
              <a:t>这篇文章是真的吗?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1284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原文论点逐条核实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828800"/>
            <a:ext cx="5486400" cy="685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92240" y="1828800"/>
            <a:ext cx="777240" cy="6858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777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90195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WenQuanYi Zen Hei"/>
                <a:ea typeface="WenQuanYi Zen Hei"/>
              </a:rPr>
              <a:t>Seedling 认证是什么?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21284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体系架构与标准底座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5486400" cy="685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2651760"/>
            <a:ext cx="777240" cy="6858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777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72491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WenQuanYi Zen Hei"/>
                <a:ea typeface="WenQuanYi Zen Hei"/>
              </a:rPr>
              <a:t>新版到底改了哪些?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03580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六大核心变更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651760"/>
            <a:ext cx="5486400" cy="685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92240" y="2651760"/>
            <a:ext cx="777240" cy="6858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777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72491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WenQuanYi Zen Hei"/>
                <a:ea typeface="WenQuanYi Zen Hei"/>
              </a:rPr>
              <a:t>1% / 3% / 15% 究竟管什么?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03580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阈值体系深度解读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74720"/>
            <a:ext cx="5486400" cy="685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3474720"/>
            <a:ext cx="777240" cy="6858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3474720"/>
            <a:ext cx="777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547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WenQuanYi Zen Hei"/>
                <a:ea typeface="WenQuanYi Zen Hei"/>
              </a:rPr>
              <a:t>对我们行业有何影响?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85876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PHA / PLA / 纸塑分行业拆解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474720"/>
            <a:ext cx="5486400" cy="685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492240" y="3474720"/>
            <a:ext cx="777240" cy="6858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777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5478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WenQuanYi Zen Hei"/>
                <a:ea typeface="WenQuanYi Zen Hei"/>
              </a:rPr>
              <a:t>现在该怎么做?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85876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0–18 月企业应对路线图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执行摘要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修订主旋律:全 · 严 · 细 · 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97480" cy="237744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全面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331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1%–15% 区间组分逐项独立测试;0.1% 微量成分纳入生态毒性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697480" cy="237744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697480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严格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14600"/>
            <a:ext cx="2331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&lt;1% 豁免总额从 5% 收紧至 3%(下调 40%)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2697480" cy="237744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97480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精细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14600"/>
            <a:ext cx="2331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湿巾 / 无纺布新增专项崩解协议;化学回收单体单列条款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828800"/>
            <a:ext cx="2697480" cy="237744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52560" y="1828800"/>
            <a:ext cx="2697480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52560" y="1828800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透明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514600"/>
            <a:ext cx="2331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Logo 必须标注 industrially compostable,杜绝家庭堆肥误读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11094415" cy="1371600"/>
          </a:xfrm>
          <a:prstGeom prst="rect">
            <a:avLst/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73152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WenQuanYi Zen Hei"/>
                <a:ea typeface="WenQuanYi Zen Hei"/>
              </a:rPr>
              <a:t>⚠ 关键提醒:生效日期实际为「新申请立即生效 + 续证时强制」,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66360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「2026 年 1 月」是中文媒体对过渡期的概括,并非官方一刀切日期。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出口企业:配方表必须重新审视,尤其 1%–15% 区间助剂将面临逐项送检压力。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01 · 文章真实性核实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7 项论点逐条比对官方信源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457200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457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论点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691640"/>
            <a:ext cx="1463040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0" y="169164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691640"/>
            <a:ext cx="4754880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0" y="1691640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WenQuanYi Zen Hei"/>
                <a:ea typeface="WenQuanYi Zen Hei"/>
              </a:rPr>
              <a:t>证据来源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新版认证方案存在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103120"/>
            <a:ext cx="146304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0" y="21031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属实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103120"/>
            <a:ext cx="475488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23760" y="21031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EUBP 官网正式页面 + PDF 存档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5603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05840" y="25603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发布主体为 EUBP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5603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0" y="25603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属实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5603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223760" y="25603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DIN CERTCO / TÜV Austria 联合维护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017520"/>
            <a:ext cx="475488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05840" y="30175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Seedling 标志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3017520"/>
            <a:ext cx="146304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0" y="30175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属实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3017520"/>
            <a:ext cx="475488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23760" y="30175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EUBP 注册商标,沿用至今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34747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05840" y="34747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1%–15% 独立生物降解测试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4747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669280" y="34747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属实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4747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223760" y="34747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Annex B.2 + 多家认证机构通告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3931920"/>
            <a:ext cx="475488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05840" y="39319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碳酸钙等无机物豁免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3931920"/>
            <a:ext cx="146304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669280" y="39319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属实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3931920"/>
            <a:ext cx="475488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223760" y="39319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EN 13432 一贯做法,新规未变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43891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05840" y="43891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5%→3% 总额上限收紧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43891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669280" y="43891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WenQuanYi Zen Hei"/>
                <a:ea typeface="WenQuanYi Zen Hei"/>
              </a:rPr>
              <a:t>⚠ 方向属实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43891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23760" y="43891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多渠道间接确认,以官方 PDF 为准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" y="4846320"/>
            <a:ext cx="475488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05840" y="48463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2026 年 1 月生效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4846320"/>
            <a:ext cx="146304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669280" y="484632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WenQuanYi Zen Hei"/>
                <a:ea typeface="WenQuanYi Zen Hei"/>
              </a:rPr>
              <a:t>⚠ 简化表述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32320" y="4846320"/>
            <a:ext cx="475488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223760" y="4846320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官方为「新申请即时 + 续证强制」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B4C"/>
                </a:solidFill>
                <a:latin typeface="WenQuanYi Zen Hei"/>
                <a:ea typeface="WenQuanYi Zen Hei"/>
              </a:rPr>
              <a:t>▎ 总判断:文章主体真实、方向正确,但生效日期表述简化、信息不全(漏报 5 项同等重要变更)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02 · Seedling 认证体系基础架构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标准制定者 → 认证机构 → 申请企业的三级链条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038447" y="1828800"/>
            <a:ext cx="4114800" cy="77724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038447" y="1828800"/>
            <a:ext cx="4114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WenQuanYi Zen Hei"/>
                <a:ea typeface="WenQuanYi Zen Hei"/>
              </a:rPr>
              <a:t>European Bioplastics e.V. (EUBP)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447" y="2670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标准制定 + Seedling 商标持有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7559" y="3017520"/>
            <a:ext cx="36576" cy="365760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286000" y="3429000"/>
            <a:ext cx="3291840" cy="77724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286000" y="3429000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Zen Hei"/>
                <a:ea typeface="WenQuanYi Zen Hei"/>
              </a:rPr>
              <a:t>DIN CERTCO (德国)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429000"/>
            <a:ext cx="3291840" cy="77724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3291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WenQuanYi Zen Hei"/>
                <a:ea typeface="WenQuanYi Zen Hei"/>
              </a:rPr>
              <a:t>TÜV AUSTRIA Belgium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25196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↑ 两家执行机构,企业可任选其一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846320"/>
            <a:ext cx="9418320" cy="77724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4183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WenQuanYi Zen Hei"/>
                <a:ea typeface="WenQuanYi Zen Hei"/>
              </a:rPr>
              <a:t>申请企业:材料商  |  中间品商  |  终端产品商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63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B5EA8"/>
                </a:solidFill>
                <a:latin typeface="WenQuanYi Zen Hei"/>
                <a:ea typeface="WenQuanYi Zen Hei"/>
              </a:rPr>
              <a:t>底层标准:EN 13432 · EN 14995 · ISO 17088 · ISO 18606 · ASTM D6400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02 · Seedling 通过的「四关」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EN 13432 框架下的硬性考核流程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2743200" cy="402336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WenQuanYi Zen Hei"/>
                <a:ea typeface="WenQuanYi Zen 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34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6B4C"/>
                </a:solidFill>
                <a:latin typeface="WenQuanYi Zen Hei"/>
                <a:ea typeface="WenQuanYi Zen Hei"/>
              </a:rPr>
              <a:t>化学特性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00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Chemical Characterisation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566159"/>
            <a:ext cx="1645920" cy="27432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重金属 12 项限值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氟含量 ≤ 100 mg/kg(防 PFAS)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挥发性固体 ≥ 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691640"/>
            <a:ext cx="2743200" cy="402336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251960" y="1874520"/>
            <a:ext cx="822960" cy="822960"/>
          </a:xfrm>
          <a:prstGeom prst="ellipse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51960" y="18745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WenQuanYi Zen Hei"/>
                <a:ea typeface="WenQuanYi Zen 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34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6B4C"/>
                </a:solidFill>
                <a:latin typeface="WenQuanYi Zen Hei"/>
                <a:ea typeface="WenQuanYi Zen Hei"/>
              </a:rPr>
              <a:t>生物降解性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00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Biodegradability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566159"/>
            <a:ext cx="1645920" cy="27432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20440" y="37490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6 个月内 ≥ 90% 矿化为 CO₂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依据 ISO 14855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水浴 / 静态条件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691640"/>
            <a:ext cx="2743200" cy="402336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132320" y="1874520"/>
            <a:ext cx="822960" cy="822960"/>
          </a:xfrm>
          <a:prstGeom prst="ellipse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32320" y="18745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WenQuanYi Zen Hei"/>
                <a:ea typeface="WenQuanYi Zen Hei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34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6B4C"/>
                </a:solidFill>
                <a:latin typeface="WenQuanYi Zen Hei"/>
                <a:ea typeface="WenQuanYi Zen Hei"/>
              </a:rPr>
              <a:t>崩解性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200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Disintegration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3566159"/>
            <a:ext cx="1645920" cy="27432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0" y="37490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12 周内 ≥ 90% 通过 2mm 筛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工业堆肥模拟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按产品形态分组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691640"/>
            <a:ext cx="2743200" cy="402336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012680" y="1874520"/>
            <a:ext cx="822960" cy="822960"/>
          </a:xfrm>
          <a:prstGeom prst="ellipse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12680" y="18745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WenQuanYi Zen Hei"/>
                <a:ea typeface="WenQuanYi Zen Hei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834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6B4C"/>
                </a:solidFill>
                <a:latin typeface="WenQuanYi Zen Hei"/>
                <a:ea typeface="WenQuanYi Zen Hei"/>
              </a:rPr>
              <a:t>生态毒性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200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Ecotoxicity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3566159"/>
            <a:ext cx="1645920" cy="27432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81160" y="3749040"/>
            <a:ext cx="2286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OECD 208 植物生长试验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发芽率/生物量 ≥ 空白 90%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新规扩至 0.1% 成分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WenQuanYi Zen Hei"/>
                <a:ea typeface="WenQuanYi Zen Hei"/>
              </a:rPr>
              <a:t>▎ 任一关失败 → 不予颁发 Seedling 标志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03 · 2025 年 10 月版六大核心变更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由「防漏洞」到「全透明」的全方位升级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3749039" cy="21031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868680" cy="21031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8686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WenQuanYi Zen Hei"/>
                <a:ea typeface="WenQuanYi Zen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65960"/>
            <a:ext cx="2651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WenQuanYi Zen Hei"/>
                <a:ea typeface="WenQuanYi Zen Hei"/>
              </a:rPr>
              <a:t>1%–15% 独立测试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60320"/>
            <a:ext cx="2651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每种有机组分必须独立送检</a:t>
            </a:r>
          </a:p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堵住「打包送检」漏洞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783080"/>
            <a:ext cx="3749039" cy="21031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43399" y="1783080"/>
            <a:ext cx="868680" cy="21031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43399" y="1783080"/>
            <a:ext cx="8686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WenQuanYi Zen Hei"/>
                <a:ea typeface="WenQuanYi Zen 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39" y="1965960"/>
            <a:ext cx="2651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WenQuanYi Zen Hei"/>
                <a:ea typeface="WenQuanYi Zen Hei"/>
              </a:rPr>
              <a:t>5% → 3% 信封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39" y="2560320"/>
            <a:ext cx="2651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&lt;1% 豁免总额收紧 40%</a:t>
            </a:r>
          </a:p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微量助剂空间压缩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8" y="1783080"/>
            <a:ext cx="3749039" cy="21031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275318" y="1783080"/>
            <a:ext cx="868680" cy="210312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5318" y="1783080"/>
            <a:ext cx="8686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WenQuanYi Zen Hei"/>
                <a:ea typeface="WenQuanYi Zen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8" y="1965960"/>
            <a:ext cx="2651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WenQuanYi Zen Hei"/>
                <a:ea typeface="WenQuanYi Zen Hei"/>
              </a:rPr>
              <a:t>0.1% 生态毒性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8" y="2560320"/>
            <a:ext cx="2651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微量成分纳入生态毒性</a:t>
            </a:r>
          </a:p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对应 PFAS 严控趋势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69080"/>
            <a:ext cx="3749039" cy="21031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11480" y="4069080"/>
            <a:ext cx="868680" cy="21031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" y="4069080"/>
            <a:ext cx="8686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WenQuanYi Zen Hei"/>
                <a:ea typeface="WenQuanYi Zen 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251960"/>
            <a:ext cx="2651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WenQuanYi Zen Hei"/>
                <a:ea typeface="WenQuanYi Zen Hei"/>
              </a:rPr>
              <a:t>Logo 改字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846320"/>
            <a:ext cx="2651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明确加入 industrially</a:t>
            </a:r>
          </a:p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compostable 字样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399" y="4069080"/>
            <a:ext cx="3749039" cy="21031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343399" y="4069080"/>
            <a:ext cx="868680" cy="21031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43399" y="4069080"/>
            <a:ext cx="8686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WenQuanYi Zen Hei"/>
                <a:ea typeface="WenQuanYi Zen 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39" y="4251960"/>
            <a:ext cx="2651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WenQuanYi Zen Hei"/>
                <a:ea typeface="WenQuanYi Zen Hei"/>
              </a:rPr>
              <a:t>湿巾 / 无纺布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39" y="4846320"/>
            <a:ext cx="2651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新增专项崩解协议</a:t>
            </a:r>
          </a:p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应对欧盟一次性立法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8" y="4069080"/>
            <a:ext cx="3749039" cy="21031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275318" y="4069080"/>
            <a:ext cx="868680" cy="210312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75318" y="4069080"/>
            <a:ext cx="86868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WenQuanYi Zen Hei"/>
                <a:ea typeface="WenQuanYi Zen 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58" y="4251960"/>
            <a:ext cx="2651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WenQuanYi Zen Hei"/>
                <a:ea typeface="WenQuanYi Zen Hei"/>
              </a:rPr>
              <a:t>化学回收单体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8" y="4846320"/>
            <a:ext cx="2651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已认证 PLA 可使用化学回收</a:t>
            </a:r>
          </a:p>
          <a:p>
            <a:pPr algn="l"/>
            <a:r>
              <a:rPr sz="1100" b="0">
                <a:solidFill>
                  <a:srgbClr val="555F6D"/>
                </a:solidFill>
                <a:latin typeface="WenQuanYi Zen Hei"/>
                <a:ea typeface="WenQuanYi Zen Hei"/>
              </a:rPr>
              <a:t>单体,无需重新认证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04 · 阈值体系 · 必读核心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1% / 3% / 15% 究竟管什么?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77295" cy="4572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772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产品中所有「有机成分」按单一组分质量分数划分(无机填料、水分不计入)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3657600" cy="338328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3657600" cy="77724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WenQuanYi Zen Hei"/>
                <a:ea typeface="WenQuanYi Zen Hei"/>
              </a:rPr>
              <a:t>&lt; 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</a:rPr>
              <a:t>单项可豁免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32004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每种有机成分 &lt; 1%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可不送独立生物降解测试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—— 但是 ——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所有此类成分总和 ≤ 3%(新规)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(旧规 ≤ 5%,本次收紧 40%)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331720"/>
            <a:ext cx="3657600" cy="338328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97680" y="2331720"/>
            <a:ext cx="3657600" cy="77724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97680" y="23774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WenQuanYi Zen Hei"/>
                <a:ea typeface="WenQuanYi Zen Hei"/>
              </a:rPr>
              <a:t>1% — 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889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</a:rPr>
              <a:t>必须独立送检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291840"/>
            <a:ext cx="32004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每种有机成分独立送检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出具独立 ISO 14855 证书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不允许「打包送检」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≥ 90% 矿化为 CO₂(180天)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本轮修订最关键的新增条款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331720"/>
            <a:ext cx="3657600" cy="338328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38160" y="2331720"/>
            <a:ext cx="3657600" cy="77724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38160" y="23774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WenQuanYi Zen Hei"/>
                <a:ea typeface="WenQuanYi Zen Hei"/>
              </a:rPr>
              <a:t>≥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788920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</a:rPr>
              <a:t>绝对必测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291840"/>
            <a:ext cx="32004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所有主组分必测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出具独立生物降解证书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+ 完整生态毒性试验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+ 重金属 / 氟含量限值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(本来就如此,新规未变)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WenQuanYi Zen Hei"/>
                <a:ea typeface="WenQuanYi Zen Hei"/>
              </a:rPr>
              <a:t>▎ 提醒:无机物(碳酸钙、滑石、TiO₂)不进入此分母,但仍受「挥发性固体 ≥ 50%」约束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04 · 五大常见误解澄清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用错误理解 vs 正确解读对照表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303520" cy="868680"/>
          </a:xfrm>
          <a:prstGeom prst="rect">
            <a:avLst/>
          </a:prstGeom>
          <a:solidFill>
            <a:srgbClr val="F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WenQuanYi Zen Hei"/>
                <a:ea typeface="WenQuanYi Zen Hei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56232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PE 涂层 &lt; 3% 就可以拿 Seedling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8745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55F6D"/>
                </a:solidFill>
                <a:latin typeface="WenQuanYi Zen Hei"/>
                <a:ea typeface="WenQuanYi Zen 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486400" cy="86868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73152" cy="86868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A06B"/>
                </a:solidFill>
                <a:latin typeface="WenQuanYi Zen Hei"/>
                <a:ea typeface="WenQuanYi Zen 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8308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PE 是石化非降解物,即使 0.5% 也违反「非降解残留」限制。3% 信封只给可豁免单测的助剂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5303520" cy="868680"/>
          </a:xfrm>
          <a:prstGeom prst="rect">
            <a:avLst/>
          </a:prstGeom>
          <a:solidFill>
            <a:srgbClr val="F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2606040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WenQuanYi Zen Hei"/>
                <a:ea typeface="WenQuanYi Zen He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770632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几个成分各 0.9%,就可以无限叠加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7889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55F6D"/>
                </a:solidFill>
                <a:latin typeface="WenQuanYi Zen Hei"/>
                <a:ea typeface="WenQuanYi Zen 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06040"/>
            <a:ext cx="5486400" cy="86868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63640" y="2606040"/>
            <a:ext cx="73152" cy="86868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46520" y="26974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A06B"/>
                </a:solidFill>
                <a:latin typeface="WenQuanYi Zen Hei"/>
                <a:ea typeface="WenQuanYi Zen 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单项可豁免,但总和必须 ≤ 3%。4 种 × 0.9% = 3.6% 已超标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0440"/>
            <a:ext cx="5303520" cy="868680"/>
          </a:xfrm>
          <a:prstGeom prst="rect">
            <a:avLst/>
          </a:prstGeom>
          <a:solidFill>
            <a:srgbClr val="F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57200" y="3520440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36118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WenQuanYi Zen Hei"/>
                <a:ea typeface="WenQuanYi Zen Hei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685032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≥ 15% 就不用测了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703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55F6D"/>
                </a:solidFill>
                <a:latin typeface="WenQuanYi Zen Hei"/>
                <a:ea typeface="WenQuanYi Zen He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520440"/>
            <a:ext cx="5486400" cy="86868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63640" y="3520440"/>
            <a:ext cx="73152" cy="86868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46520" y="36118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A06B"/>
                </a:solidFill>
                <a:latin typeface="WenQuanYi Zen Hei"/>
                <a:ea typeface="WenQuanYi Zen 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61188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完全相反。≥ 15% 是绝对主成分,永远必须通过独立测试(本来就如此)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5303520" cy="868680"/>
          </a:xfrm>
          <a:prstGeom prst="rect">
            <a:avLst/>
          </a:prstGeom>
          <a:solidFill>
            <a:srgbClr val="F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45262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WenQuanYi Zen Hei"/>
                <a:ea typeface="WenQuanYi Zen Hei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599432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1%–15% 区间是新发明的概念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46177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55F6D"/>
                </a:solidFill>
                <a:latin typeface="WenQuanYi Zen Hei"/>
                <a:ea typeface="WenQuanYi Zen He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434840"/>
            <a:ext cx="5486400" cy="86868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263640" y="4434840"/>
            <a:ext cx="73152" cy="86868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46520" y="45262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A06B"/>
                </a:solidFill>
                <a:latin typeface="WenQuanYi Zen Hei"/>
                <a:ea typeface="WenQuanYi Zen He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52628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≥ 1% 必测原则一直存在,本次新增的是「逐项独立」要求,堵混合送检漏洞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349240"/>
            <a:ext cx="5303520" cy="868680"/>
          </a:xfrm>
          <a:prstGeom prst="rect">
            <a:avLst/>
          </a:prstGeom>
          <a:solidFill>
            <a:srgbClr val="FC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57200" y="5349240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0080" y="54406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WenQuanYi Zen Hei"/>
                <a:ea typeface="WenQuanYi Zen Hei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513832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碳酸钙不限量,加多少都行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6440" y="55321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55F6D"/>
                </a:solidFill>
                <a:latin typeface="WenQuanYi Zen Hei"/>
                <a:ea typeface="WenQuanYi Zen Hei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349240"/>
            <a:ext cx="5486400" cy="868680"/>
          </a:xfrm>
          <a:prstGeom prst="rect">
            <a:avLst/>
          </a:prstGeom>
          <a:solidFill>
            <a:srgbClr val="EC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263640" y="5349240"/>
            <a:ext cx="73152" cy="86868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446520" y="5440680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A06B"/>
                </a:solidFill>
                <a:latin typeface="WenQuanYi Zen Hei"/>
                <a:ea typeface="WenQuanYi Zen He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440680"/>
            <a:ext cx="4937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CaCO₃ 不参与有机成分阈值计算,但仍受「VS ≥ 50%」总要求约束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05 · 典型案例 · 纸杯 / 纸碗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能否拿 Seedling 取决于涂层化学性质,不取决于 3% 阈值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77295" cy="548640"/>
          </a:xfrm>
          <a:prstGeom prst="rect">
            <a:avLst/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73152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8200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WenQuanYi Zen Hei"/>
                <a:ea typeface="WenQuanYi Zen Hei"/>
              </a:rPr>
              <a:t>结论:涂层能不能拿 Seedling 看「材料是否可降解」,与 3% 信封无关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2743200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涂层类型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423160"/>
            <a:ext cx="1828800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200400" y="242316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占比典型值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423160"/>
            <a:ext cx="3200400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0" y="242316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是否能拿 Seedling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3474720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0" y="2423160"/>
            <a:ext cx="3474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受 3% 阈值影响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34640"/>
            <a:ext cx="27432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PE 聚乙烯涂层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834640"/>
            <a:ext cx="18288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200400" y="2834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5% – 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834640"/>
            <a:ext cx="32004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9200" y="2834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WenQuanYi Zen Hei"/>
                <a:ea typeface="WenQuanYi Zen Hei"/>
              </a:rPr>
              <a:t>❌ 完全不可能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834640"/>
            <a:ext cx="347472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0" y="283464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与 3% 无关 · PE 不可降解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32918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EAA / EMAA 增粘层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29184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200400" y="32918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0.5% – 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32918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0" y="32918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WenQuanYi Zen Hei"/>
                <a:ea typeface="WenQuanYi Zen Hei"/>
              </a:rPr>
              <a:t>❌ 完全不可能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2918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即便 &lt; 1% 也属非降解残留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49040"/>
            <a:ext cx="27432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37490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PLA 涂层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749040"/>
            <a:ext cx="18288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200400" y="37490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5% – 18%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3749040"/>
            <a:ext cx="32004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029200" y="37490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可,需 PLA 已认证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749040"/>
            <a:ext cx="347472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0" y="374904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≥ 15% 时绝对必测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2062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4360" y="42062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PBS / PBAT 涂层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420624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200400" y="42062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5% – 15%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42062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02920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2062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229600" y="420624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1%–15% 区间需独立报告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663440"/>
            <a:ext cx="27432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94360" y="46634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PHA 水性涂层(新兴)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4663440"/>
            <a:ext cx="18288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200400" y="46634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1% – 10%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4663440"/>
            <a:ext cx="320040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029200" y="46634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可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4663440"/>
            <a:ext cx="3474720" cy="4572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29600" y="466344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1%–15% 区间需独立报告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1206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94360" y="512064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水基生物聚合物涂层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12064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200400" y="512064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1% – 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51206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029200" y="5120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✅ 可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51206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229600" y="5120640"/>
            <a:ext cx="3474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同上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585216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6B4C"/>
                </a:solidFill>
                <a:latin typeface="WenQuanYi Zen Hei"/>
                <a:ea typeface="WenQuanYi Zen Hei"/>
              </a:rPr>
              <a:t>▎ 关键判断 · 先确认涂层是可降解材料,再考虑助剂层面的 3% 阈值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05 · 分行业影响评估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PHA / PLA / 纸塑 / 助剂 / 中国出口五维拆解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77295" cy="86868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200400" cy="8686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3017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PHA 行业(本系统主体)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8745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A06B"/>
                </a:solidFill>
                <a:latin typeface="WenQuanYi Zen Hei"/>
                <a:ea typeface="WenQuanYi Zen Hei"/>
              </a:rPr>
              <a:t>✅ 总体利好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94560"/>
            <a:ext cx="78940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本身可全场景降解 · 共混伙伴需独立认证 · 助剂总和注意 ≤ 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11277295" cy="86868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3200400" cy="8686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3017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PLA / PBAT 共混料商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889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WenQuanYi Zen Hei"/>
                <a:ea typeface="WenQuanYi Zen Hei"/>
              </a:rPr>
              <a:t>⚠ 测试压力大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08960"/>
            <a:ext cx="78940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1%–15% 改性组分必须独立送检 · 单项 ISO 14855 ≈ €15K–25K · 6 个月周期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1277295" cy="86868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3200400" cy="8686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611880"/>
            <a:ext cx="3017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纸塑复合(纸杯/纸碗)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7033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A06B"/>
                </a:solidFill>
                <a:latin typeface="WenQuanYi Zen Hei"/>
                <a:ea typeface="WenQuanYi Zen Hei"/>
              </a:rPr>
              <a:t>✅ 取决于涂层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023360"/>
            <a:ext cx="78940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PE/EAA 直接出局 · 选用 PLA/PBS/PHA 涂层即可 · 关注油墨/施胶剂的 3% 信封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26280"/>
            <a:ext cx="11277295" cy="86868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3200400" cy="8686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3017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色母粒 / 助剂供应商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6177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WenQuanYi Zen Hei"/>
                <a:ea typeface="WenQuanYi Zen Hei"/>
              </a:rPr>
              <a:t>⚠ 高风险区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937760"/>
            <a:ext cx="78940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载体树脂往往 1%–3% 正踩双重门槛 · 含 F/Br/Cd 助剂直接淘汰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11277295" cy="86868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3200400" cy="8686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5440680"/>
            <a:ext cx="3017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中国出口企业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532120"/>
            <a:ext cx="21031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WenQuanYi Zen Hei"/>
                <a:ea typeface="WenQuanYi Zen Hei"/>
              </a:rPr>
              <a:t>⚠ 合规雷区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852160"/>
            <a:ext cx="78940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GB/T 19277 数据不能直接跨用 · 需在 EUBP 认可实验室重新送检 · 防止四类雷区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06 · 企业应对路线图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0 – 18 个月分阶段行动清单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749039" cy="4114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3749039" cy="68580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0 – 6 个月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WenQuanYi Zen Hei"/>
                <a:ea typeface="WenQuanYi Zen Hei"/>
              </a:rPr>
              <a:t>短期 · 盘点与准备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329183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配方表全面盘点,标注各成分质量分数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校核 &lt; 1% 有机成分总和是否 ≤ 3%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联系 DIN CERTCO / TÜV 确认过渡安排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向供应商索取助剂的子认证证书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399" y="1691640"/>
            <a:ext cx="3749039" cy="4114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43399" y="1691640"/>
            <a:ext cx="3749039" cy="68580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43399" y="17373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6 – 18 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057400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WenQuanYi Zen Hei"/>
                <a:ea typeface="WenQuanYi Zen Hei"/>
              </a:rPr>
              <a:t>中期 · 测试与切换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560320"/>
            <a:ext cx="329183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1%–15% 组分启动 ISO 14855 独立送检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&lt;0.1% 微量成分补充 OECD 208 等生态毒性测试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包装 Logo 同步增加 industrially compostable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在 PLM/ERP 中建立合规 BOM 字段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8" y="1691640"/>
            <a:ext cx="3749039" cy="411480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275318" y="1691640"/>
            <a:ext cx="3749039" cy="6858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5318" y="173736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</a:rPr>
              <a:t>18 个月以上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8" y="2057400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WenQuanYi Zen Hei"/>
                <a:ea typeface="WenQuanYi Zen Hei"/>
              </a:rPr>
              <a:t>长期 · 战略布局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2560320"/>
            <a:ext cx="329183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跟踪 EN 13432 新版征求意见(2026–2027)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布局 PHA / 化学回收闭环路径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拓展 OK Compost HOME / Soil / Marine 多认证矩阵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200" b="0">
                <a:solidFill>
                  <a:srgbClr val="1F2937"/>
                </a:solidFill>
                <a:latin typeface="WenQuanYi Zen Hei"/>
                <a:ea typeface="WenQuanYi Zen Hei"/>
              </a:rPr>
              <a:t>建立合规日历 · 提前 6 月启动续证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风险提示 RISK NOTICE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重大决策前需企业自行二次核实的不确定项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77295" cy="1005840"/>
          </a:xfrm>
          <a:prstGeom prst="rect">
            <a:avLst/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91440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914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647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WenQuanYi Zen Hei"/>
                <a:ea typeface="WenQuanYi Zen Hei"/>
              </a:rPr>
              <a:t>5% → 3% 具体数字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031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来自二次行业解读,作者团队尚未直读 EUBP PDF 中相应条款的精确段落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783080"/>
            <a:ext cx="6339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B4C"/>
                </a:solidFill>
                <a:latin typeface="WenQuanYi Zen Hei"/>
                <a:ea typeface="WenQuanYi Zen Hei"/>
              </a:rPr>
              <a:t>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103120"/>
            <a:ext cx="633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建议:由企业法务/合规部门直接索取 EUBP 原始文件确认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11277295" cy="1005840"/>
          </a:xfrm>
          <a:prstGeom prst="rect">
            <a:avLst/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91440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914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163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WenQuanYi Zen Hei"/>
                <a:ea typeface="WenQuanYi Zen Hei"/>
              </a:rPr>
              <a:t>生效日期非一刀切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546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各认证机构(DIN CERTCO / TÜV)可能分别公告不同的过渡安排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834640"/>
            <a:ext cx="6339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B4C"/>
                </a:solidFill>
                <a:latin typeface="WenQuanYi Zen Hei"/>
                <a:ea typeface="WenQuanYi Zen Hei"/>
              </a:rPr>
              <a:t>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154680"/>
            <a:ext cx="633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建议:跨认证机构客户分别确认续证窗口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277295" cy="1005840"/>
          </a:xfrm>
          <a:prstGeom prst="rect">
            <a:avLst/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57200" y="3794760"/>
            <a:ext cx="91440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914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6791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WenQuanYi Zen Hei"/>
                <a:ea typeface="WenQuanYi Zen Hei"/>
              </a:rPr>
              <a:t>PFAS 限值收紧趋势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06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EN 13432 总氟 100 mg/kg,但 REACH 对 PFAS 更严限值正在制定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886200"/>
            <a:ext cx="6339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B4C"/>
                </a:solidFill>
                <a:latin typeface="WenQuanYi Zen Hei"/>
                <a:ea typeface="WenQuanYi Zen Hei"/>
              </a:rPr>
              <a:t>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206240"/>
            <a:ext cx="633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建议:Seedling 后续可能进一步收紧,提前布局无氟配方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11277295" cy="1005840"/>
          </a:xfrm>
          <a:prstGeom prst="rect">
            <a:avLst/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91440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914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WenQuanYi Zen Hei"/>
                <a:ea typeface="WenQuanYi Zen 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9194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WenQuanYi Zen Hei"/>
                <a:ea typeface="WenQuanYi Zen Hei"/>
              </a:rPr>
              <a:t>海外互认不确定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2578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美国 BPI、澳洲 ABA 是否同步收紧尚未明确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937760"/>
            <a:ext cx="6339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B4C"/>
                </a:solidFill>
                <a:latin typeface="WenQuanYi Zen Hei"/>
                <a:ea typeface="WenQuanYi Zen Hei"/>
              </a:rPr>
              <a:t>建议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5257800"/>
            <a:ext cx="633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建议:多国出口需分别评估,不可只盯欧盟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</a:rPr>
              <a:t>信息源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9144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WenQuanYi Zen Hei"/>
                <a:ea typeface="WenQuanYi Zen He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WenQuanYi Zen Hei"/>
                <a:ea typeface="WenQuanYi Zen Hei"/>
              </a:rPr>
              <a:t>三级信源结构 · 一级官方为最终依据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" cy="4572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77295" cy="41148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一级 · EUBP / 认证机构官方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EUBP 官方公告页:european-bioplastics.org/seedling-certification-scheme-october2025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官方 PDF 全文:Seedling_FINAL_CertificationScheme_Revision_2025.pdf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EUBP 标准与标识事实表 (2025)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F6B4C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DIN CERTCO 公告页:dincertco.de/din-certco/en/news/certification-scheme.html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11277295" cy="41148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1091153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二级 · 法规联动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PPWR (Regulation EU 2025/40) 全文 — 欧盟环境总司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EEA 可堆肥塑料标准对照页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A06B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Green Claims Directive(欧盟绿色声明指令)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92040"/>
            <a:ext cx="11277295" cy="411480"/>
          </a:xfrm>
          <a:prstGeom prst="rect">
            <a:avLst/>
          </a:prstGeom>
          <a:solidFill>
            <a:srgbClr val="1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91153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WenQuanYi Zen Hei"/>
                <a:ea typeface="WenQuanYi Zen Hei"/>
              </a:rPr>
              <a:t>三级 · 历史版本与第三方解读(交叉验证)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Seedling Certification Scheme 2023 / 2020 历史版本(对比研究)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Power Adhesives:Understanding the 1% rule under PPWR (2025-10)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Vincotte:Requirements of the EN 13432 standard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5EA8"/>
                </a:solidFill>
                <a:latin typeface="WenQuanYi Zen Hei"/>
                <a:ea typeface="WenQuanYi Zen Hei"/>
              </a:rPr>
              <a:t>▎ </a:t>
            </a:r>
            <a:r>
              <a:rPr sz="1100" b="0">
                <a:solidFill>
                  <a:srgbClr val="1F2937"/>
                </a:solidFill>
                <a:latin typeface="WenQuanYi Zen Hei"/>
                <a:ea typeface="WenQuanYi Zen Hei"/>
              </a:rPr>
              <a:t>Measurlabs:Biodegradability and Compostability Testing Standards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EUBP Seedling 2025 工业可堆肥认证方案 · 深度解读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695" y="6601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F6D"/>
                </a:solidFill>
                <a:latin typeface="WenQuanYi Zen Hei"/>
                <a:ea typeface="WenQuanYi Zen 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286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WenQuanYi Zen Hei"/>
                <a:ea typeface="WenQuanYi Zen He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1371600" cy="54864"/>
          </a:xfrm>
          <a:prstGeom prst="rect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6F3EC"/>
                </a:solidFill>
                <a:latin typeface="WenQuanYi Zen Hei"/>
                <a:ea typeface="WenQuanYi Zen Hei"/>
              </a:rPr>
              <a:t>EUBP Seedling 2025 · 工业可堆肥认证方案深度解读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F3EC"/>
                </a:solidFill>
                <a:latin typeface="WenQuanYi Zen Hei"/>
                <a:ea typeface="WenQuanYi Zen Hei"/>
              </a:rPr>
              <a:t>如需:① 配方合规自检 ② 测试机构推荐 ③ 续证日历定制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F3EC"/>
                </a:solidFill>
                <a:latin typeface="WenQuanYi Zen Hei"/>
                <a:ea typeface="WenQuanYi Zen Hei"/>
              </a:rPr>
              <a:t>请联系 PHA 研发中心合规组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6F3EC"/>
                </a:solidFill>
                <a:latin typeface="WenQuanYi Zen Hei"/>
                <a:ea typeface="WenQuanYi Zen Hei"/>
              </a:rPr>
              <a:t>© 2026 PHA-RD-System · 内部决策参考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